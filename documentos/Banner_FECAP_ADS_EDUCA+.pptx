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0425" cy="43200638"/>
  <p:notesSz cx="6858000" cy="9144000"/>
  <p:embeddedFontLst>
    <p:embeddedFont>
      <p:font typeface="Open Sans 1" panose="020B0604020202020204" charset="0"/>
      <p:regular r:id="rId3"/>
    </p:embeddedFont>
    <p:embeddedFont>
      <p:font typeface="Open Sans 1 Bold" panose="020B0604020202020204" charset="0"/>
      <p:regular r:id="rId4"/>
    </p:embeddedFont>
    <p:embeddedFont>
      <p:font typeface="Open Sans 2" panose="020B0604020202020204" charset="0"/>
      <p:regular r:id="rId5"/>
    </p:embeddedFont>
    <p:embeddedFont>
      <p:font typeface="Open Sans 2 Bold" panose="020B0604020202020204" charset="0"/>
      <p:regular r:id="rId6"/>
    </p:embeddedFont>
  </p:embeddedFontLst>
  <p:defaultTextStyle>
    <a:defPPr>
      <a:defRPr lang="en-US"/>
    </a:defPPr>
    <a:lvl1pPr marL="0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1pPr>
    <a:lvl2pPr marL="902193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2pPr>
    <a:lvl3pPr marL="1804386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3pPr>
    <a:lvl4pPr marL="2706578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4pPr>
    <a:lvl5pPr marL="3608771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5pPr>
    <a:lvl6pPr marL="4510964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6pPr>
    <a:lvl7pPr marL="5413157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7pPr>
    <a:lvl8pPr marL="6315349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8pPr>
    <a:lvl9pPr marL="7217542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6" userDrawn="1">
          <p15:clr>
            <a:srgbClr val="A4A3A4"/>
          </p15:clr>
        </p15:guide>
        <p15:guide id="2" pos="54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0" d="100"/>
          <a:sy n="30" d="100"/>
        </p:scale>
        <p:origin x="936" y="918"/>
      </p:cViewPr>
      <p:guideLst>
        <p:guide orient="horz" pos="4366"/>
        <p:guide pos="54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71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42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1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485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356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277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099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97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</p:spPr>
        <p:txBody>
          <a:bodyPr anchor="t"/>
          <a:lstStyle>
            <a:lvl1pPr algn="l">
              <a:defRPr sz="76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</p:spPr>
        <p:txBody>
          <a:bodyPr anchor="b"/>
          <a:lstStyle>
            <a:lvl1pPr marL="0" indent="0">
              <a:buNone/>
              <a:defRPr sz="3811">
                <a:solidFill>
                  <a:schemeClr val="tx1">
                    <a:tint val="75000"/>
                  </a:schemeClr>
                </a:solidFill>
              </a:defRPr>
            </a:lvl1pPr>
            <a:lvl2pPr marL="871286" indent="0">
              <a:buNone/>
              <a:defRPr sz="3430">
                <a:solidFill>
                  <a:schemeClr val="tx1">
                    <a:tint val="75000"/>
                  </a:schemeClr>
                </a:solidFill>
              </a:defRPr>
            </a:lvl2pPr>
            <a:lvl3pPr marL="1742572" indent="0">
              <a:buNone/>
              <a:defRPr sz="3049">
                <a:solidFill>
                  <a:schemeClr val="tx1">
                    <a:tint val="75000"/>
                  </a:schemeClr>
                </a:solidFill>
              </a:defRPr>
            </a:lvl3pPr>
            <a:lvl4pPr marL="261385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4pPr>
            <a:lvl5pPr marL="3485144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5pPr>
            <a:lvl6pPr marL="4356430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6pPr>
            <a:lvl7pPr marL="5227716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7pPr>
            <a:lvl8pPr marL="6099002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8pPr>
            <a:lvl9pPr marL="697028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1273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57946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1273" y="4395787"/>
            <a:ext cx="7699274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851896" y="3102721"/>
            <a:ext cx="7702299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851896" y="4395787"/>
            <a:ext cx="7702299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2874" y="551881"/>
            <a:ext cx="9741320" cy="11830122"/>
          </a:xfrm>
        </p:spPr>
        <p:txBody>
          <a:bodyPr/>
          <a:lstStyle>
            <a:lvl1pPr>
              <a:defRPr sz="6098"/>
            </a:lvl1pPr>
            <a:lvl2pPr>
              <a:defRPr sz="5336"/>
            </a:lvl2pPr>
            <a:lvl3pPr>
              <a:defRPr sz="4574"/>
            </a:lvl3pPr>
            <a:lvl4pPr>
              <a:defRPr sz="3811"/>
            </a:lvl4pPr>
            <a:lvl5pPr>
              <a:defRPr sz="3811"/>
            </a:lvl5pPr>
            <a:lvl6pPr>
              <a:defRPr sz="3811"/>
            </a:lvl6pPr>
            <a:lvl7pPr>
              <a:defRPr sz="3811"/>
            </a:lvl7pPr>
            <a:lvl8pPr>
              <a:defRPr sz="3811"/>
            </a:lvl8pPr>
            <a:lvl9pPr>
              <a:defRPr sz="38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274" y="2900579"/>
            <a:ext cx="5732859" cy="9481424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415514" y="1238521"/>
            <a:ext cx="10455280" cy="8316700"/>
          </a:xfrm>
        </p:spPr>
        <p:txBody>
          <a:bodyPr/>
          <a:lstStyle>
            <a:lvl1pPr marL="0" indent="0">
              <a:buNone/>
              <a:defRPr sz="6098"/>
            </a:lvl1pPr>
            <a:lvl2pPr marL="871286" indent="0">
              <a:buNone/>
              <a:defRPr sz="5336"/>
            </a:lvl2pPr>
            <a:lvl3pPr marL="1742572" indent="0">
              <a:buNone/>
              <a:defRPr sz="4574"/>
            </a:lvl3pPr>
            <a:lvl4pPr marL="2613858" indent="0">
              <a:buNone/>
              <a:defRPr sz="3811"/>
            </a:lvl4pPr>
            <a:lvl5pPr marL="3485144" indent="0">
              <a:buNone/>
              <a:defRPr sz="3811"/>
            </a:lvl5pPr>
            <a:lvl6pPr marL="4356430" indent="0">
              <a:buNone/>
              <a:defRPr sz="3811"/>
            </a:lvl6pPr>
            <a:lvl7pPr marL="5227716" indent="0">
              <a:buNone/>
              <a:defRPr sz="3811"/>
            </a:lvl7pPr>
            <a:lvl8pPr marL="6099002" indent="0">
              <a:buNone/>
              <a:defRPr sz="3811"/>
            </a:lvl8pPr>
            <a:lvl9pPr marL="6970288" indent="0">
              <a:buNone/>
              <a:defRPr sz="38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5514" y="10848290"/>
            <a:ext cx="10455280" cy="1626761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33464" y="555090"/>
            <a:ext cx="3920730" cy="11826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71273" y="555090"/>
            <a:ext cx="11471766" cy="11826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742572" rtl="0" eaLnBrk="1" latinLnBrk="0" hangingPunct="1">
        <a:spcBef>
          <a:spcPct val="0"/>
        </a:spcBef>
        <a:buNone/>
        <a:defRPr sz="83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3465" indent="-653465" algn="l" defTabSz="1742572" rtl="0" eaLnBrk="1" latinLnBrk="0" hangingPunct="1">
        <a:spcBef>
          <a:spcPct val="20000"/>
        </a:spcBef>
        <a:buFont typeface="Arial" pitchFamily="34" charset="0"/>
        <a:buChar char="•"/>
        <a:defRPr sz="6098" kern="1200">
          <a:solidFill>
            <a:schemeClr val="tx1"/>
          </a:solidFill>
          <a:latin typeface="+mn-lt"/>
          <a:ea typeface="+mn-ea"/>
          <a:cs typeface="+mn-cs"/>
        </a:defRPr>
      </a:lvl1pPr>
      <a:lvl2pPr marL="1415840" indent="-544554" algn="l" defTabSz="1742572" rtl="0" eaLnBrk="1" latinLnBrk="0" hangingPunct="1">
        <a:spcBef>
          <a:spcPct val="20000"/>
        </a:spcBef>
        <a:buFont typeface="Arial" pitchFamily="34" charset="0"/>
        <a:buChar char="–"/>
        <a:defRPr sz="5336" kern="1200">
          <a:solidFill>
            <a:schemeClr val="tx1"/>
          </a:solidFill>
          <a:latin typeface="+mn-lt"/>
          <a:ea typeface="+mn-ea"/>
          <a:cs typeface="+mn-cs"/>
        </a:defRPr>
      </a:lvl2pPr>
      <a:lvl3pPr marL="217821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4574" kern="1200">
          <a:solidFill>
            <a:schemeClr val="tx1"/>
          </a:solidFill>
          <a:latin typeface="+mn-lt"/>
          <a:ea typeface="+mn-ea"/>
          <a:cs typeface="+mn-cs"/>
        </a:defRPr>
      </a:lvl3pPr>
      <a:lvl4pPr marL="3049501" indent="-435643" algn="l" defTabSz="1742572" rtl="0" eaLnBrk="1" latinLnBrk="0" hangingPunct="1">
        <a:spcBef>
          <a:spcPct val="20000"/>
        </a:spcBef>
        <a:buFont typeface="Arial" pitchFamily="34" charset="0"/>
        <a:buChar char="–"/>
        <a:defRPr sz="3811" kern="1200">
          <a:solidFill>
            <a:schemeClr val="tx1"/>
          </a:solidFill>
          <a:latin typeface="+mn-lt"/>
          <a:ea typeface="+mn-ea"/>
          <a:cs typeface="+mn-cs"/>
        </a:defRPr>
      </a:lvl4pPr>
      <a:lvl5pPr marL="3920787" indent="-435643" algn="l" defTabSz="1742572" rtl="0" eaLnBrk="1" latinLnBrk="0" hangingPunct="1">
        <a:spcBef>
          <a:spcPct val="20000"/>
        </a:spcBef>
        <a:buFont typeface="Arial" pitchFamily="34" charset="0"/>
        <a:buChar char="»"/>
        <a:defRPr sz="3811" kern="1200">
          <a:solidFill>
            <a:schemeClr val="tx1"/>
          </a:solidFill>
          <a:latin typeface="+mn-lt"/>
          <a:ea typeface="+mn-ea"/>
          <a:cs typeface="+mn-cs"/>
        </a:defRPr>
      </a:lvl5pPr>
      <a:lvl6pPr marL="4792073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6pPr>
      <a:lvl7pPr marL="5663359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7pPr>
      <a:lvl8pPr marL="653464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8pPr>
      <a:lvl9pPr marL="7405931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1pPr>
      <a:lvl2pPr marL="87128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2pPr>
      <a:lvl3pPr marL="174257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3pPr>
      <a:lvl4pPr marL="261385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4pPr>
      <a:lvl5pPr marL="3485144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5pPr>
      <a:lvl6pPr marL="435643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6pPr>
      <a:lvl7pPr marL="522771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7pPr>
      <a:lvl8pPr marL="609900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8pPr>
      <a:lvl9pPr marL="697028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4721" y="36779527"/>
            <a:ext cx="29324843" cy="6461592"/>
            <a:chOff x="0" y="0"/>
            <a:chExt cx="3032124" cy="6075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sp>
        <p:nvSpPr>
          <p:cNvPr id="5" name="Freeform 5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grpSp>
        <p:nvGrpSpPr>
          <p:cNvPr id="6" name="Group 6"/>
          <p:cNvGrpSpPr/>
          <p:nvPr/>
        </p:nvGrpSpPr>
        <p:grpSpPr>
          <a:xfrm>
            <a:off x="-234720" y="29306856"/>
            <a:ext cx="29304069" cy="9253255"/>
            <a:chOff x="0" y="0"/>
            <a:chExt cx="3163653" cy="8700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234719" y="21516783"/>
            <a:ext cx="29324842" cy="8954039"/>
            <a:chOff x="0" y="0"/>
            <a:chExt cx="3225442" cy="8419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234720" y="16067865"/>
            <a:ext cx="29304069" cy="7866470"/>
            <a:chOff x="0" y="0"/>
            <a:chExt cx="3032124" cy="73967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34719" y="7322639"/>
            <a:ext cx="29304069" cy="8719626"/>
            <a:chOff x="0" y="0"/>
            <a:chExt cx="3218728" cy="8198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21" name="Group 21"/>
          <p:cNvGrpSpPr/>
          <p:nvPr/>
        </p:nvGrpSpPr>
        <p:grpSpPr>
          <a:xfrm rot="-5400000">
            <a:off x="11289110" y="13290109"/>
            <a:ext cx="20491548" cy="12791303"/>
            <a:chOff x="0" y="0"/>
            <a:chExt cx="1922704" cy="11769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dirty="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2698" y="30288234"/>
            <a:ext cx="13848538" cy="7976109"/>
            <a:chOff x="0" y="0"/>
            <a:chExt cx="1302166" cy="8207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139231" y="30288233"/>
            <a:ext cx="12791304" cy="7976109"/>
            <a:chOff x="0" y="0"/>
            <a:chExt cx="8764870" cy="537126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8764870" cy="5371264"/>
              <a:chOff x="0" y="0"/>
              <a:chExt cx="1329056" cy="81446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pt-BR" sz="6769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</p:spPr>
            <p:txBody>
              <a:bodyPr lIns="96808" tIns="96808" rIns="96808" bIns="96808" rtlCol="0" anchor="ctr"/>
              <a:lstStyle/>
              <a:p>
                <a:pPr algn="ctr">
                  <a:lnSpc>
                    <a:spcPts val="7596"/>
                  </a:lnSpc>
                </a:pPr>
                <a:endParaRPr sz="6769"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10"/>
                </a:lnSpc>
              </a:pPr>
              <a:r>
                <a:rPr lang="en-US" sz="4762" b="1" spc="179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REFERÊNCIAS</a:t>
              </a:r>
            </a:p>
          </p:txBody>
        </p:sp>
      </p:grpSp>
      <p:sp>
        <p:nvSpPr>
          <p:cNvPr id="32" name="Freeform 32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3" name="Freeform 33"/>
          <p:cNvSpPr/>
          <p:nvPr/>
        </p:nvSpPr>
        <p:spPr>
          <a:xfrm>
            <a:off x="-119903" y="-4871022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4" name="Freeform 34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6" name="TextBox 36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sz="5077" b="1" spc="192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INTRODUÇÃO</a:t>
            </a:r>
          </a:p>
        </p:txBody>
      </p:sp>
      <p:grpSp>
        <p:nvGrpSpPr>
          <p:cNvPr id="37" name="Group 37"/>
          <p:cNvGrpSpPr/>
          <p:nvPr/>
        </p:nvGrpSpPr>
        <p:grpSpPr>
          <a:xfrm rot="-5400000">
            <a:off x="2518127" y="7318030"/>
            <a:ext cx="10273028" cy="14430945"/>
            <a:chOff x="-6222" y="-47625"/>
            <a:chExt cx="965202" cy="1355859"/>
          </a:xfrm>
        </p:grpSpPr>
        <p:sp>
          <p:nvSpPr>
            <p:cNvPr id="38" name="Freeform 38"/>
            <p:cNvSpPr/>
            <p:nvPr/>
          </p:nvSpPr>
          <p:spPr>
            <a:xfrm>
              <a:off x="-6222" y="7095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 dirty="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40" name="Group 40"/>
          <p:cNvGrpSpPr/>
          <p:nvPr/>
        </p:nvGrpSpPr>
        <p:grpSpPr>
          <a:xfrm rot="-5400000">
            <a:off x="2944968" y="17988330"/>
            <a:ext cx="9963998" cy="13848538"/>
            <a:chOff x="0" y="0"/>
            <a:chExt cx="936167" cy="130113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sp>
        <p:nvSpPr>
          <p:cNvPr id="43" name="Freeform 43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44" name="TextBox 44"/>
          <p:cNvSpPr txBox="1"/>
          <p:nvPr/>
        </p:nvSpPr>
        <p:spPr>
          <a:xfrm>
            <a:off x="9822336" y="4069333"/>
            <a:ext cx="9155752" cy="14846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549"/>
              </a:lnSpc>
            </a:pPr>
            <a:r>
              <a:rPr lang="en-US" sz="11434" b="1" spc="433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APRENDER+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928811" y="6000322"/>
            <a:ext cx="25731576" cy="16612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68"/>
              </a:lnSpc>
            </a:pP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Bruno Sales, Gabriel Barbosa, Mel Oliva, Rayna Guimarães</a:t>
            </a:r>
          </a:p>
          <a:p>
            <a:pPr algn="ctr">
              <a:lnSpc>
                <a:spcPts val="6668"/>
              </a:lnSpc>
            </a:pP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Orientadores: </a:t>
            </a:r>
            <a:r>
              <a:rPr lang="pt-BR" sz="4762" dirty="0">
                <a:solidFill>
                  <a:srgbClr val="000000"/>
                </a:solidFill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2"/>
              </a:rPr>
              <a:t>Aimar Martins, Eduardo Savino, Lucy Mari, Renata Muniz e Ronaldo Araujo</a:t>
            </a:r>
            <a:endParaRPr lang="en-US" sz="4762" dirty="0">
              <a:solidFill>
                <a:srgbClr val="000000"/>
              </a:solidFill>
              <a:latin typeface="Open Sans 2" panose="020B0604020202020204" charset="0"/>
              <a:ea typeface="Open Sans 2" panose="020B0604020202020204" charset="0"/>
              <a:cs typeface="Open Sans 2" panose="020B0604020202020204" charset="0"/>
              <a:sym typeface="Open Sans 2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TECNOLOGIAS UTILIZADAS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RESULTADOS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O PROBLEMA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 PROPOSTA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763201" y="31693742"/>
            <a:ext cx="11399871" cy="5492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2"/>
              </a:rPr>
              <a:t>DATE, C. J. Introdução a Sistemas de Banco de Dados. Rio de Janeiro: Elsevier, 2014.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MORAIS, I. S.; et al. Algoritmo e programação. Porto Alegre: </a:t>
            </a:r>
            <a:r>
              <a:rPr lang="pt-BR" sz="3430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Sagah</a:t>
            </a: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, 2018. </a:t>
            </a:r>
          </a:p>
          <a:p>
            <a:pPr algn="just">
              <a:lnSpc>
                <a:spcPts val="4802"/>
              </a:lnSpc>
            </a:pPr>
            <a:endParaRPr lang="pt-BR" sz="3430" dirty="0">
              <a:latin typeface="Open Sans 2" panose="020B0604020202020204" charset="0"/>
              <a:ea typeface="Open Sans 2" panose="020B0604020202020204" charset="0"/>
              <a:cs typeface="Open Sans 2" panose="020B0604020202020204" charset="0"/>
            </a:endParaRP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SOMMERVILLE, Ian. Engenharia de software. 10. ed. São Paulo: Pearson, 2018. xi, 756 p. ISBN 9788543024974</a:t>
            </a:r>
          </a:p>
          <a:p>
            <a:pPr algn="just">
              <a:lnSpc>
                <a:spcPts val="4802"/>
              </a:lnSpc>
            </a:pPr>
            <a:endParaRPr lang="pt-BR" sz="320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545886" y="31595048"/>
            <a:ext cx="12830149" cy="63814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/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Para o desenvolvimento do projeto, utilizamos algumas tecnologias essenciais que garantiram o funcionamento adequado desde a interface até o armazenamento de dados.</a:t>
            </a:r>
          </a:p>
          <a:p>
            <a:pPr algn="just"/>
            <a:endParaRPr lang="pt-BR" sz="3430" dirty="0">
              <a:latin typeface="Open Sans 2" panose="020B0604020202020204" charset="0"/>
              <a:ea typeface="Open Sans 2" panose="020B0604020202020204" charset="0"/>
              <a:cs typeface="Open Sans 2" panose="020B060402020202020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Linguagem/Plataforma: C# (.NET) — desenvolvimento da aplicação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Interface Desktop: </a:t>
            </a:r>
            <a:r>
              <a:rPr lang="pt-BR" sz="3430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WinForms</a:t>
            </a: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— criação das telas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Acesso a dados: ADO.NET — conexão com o banco (CRUD)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Modelagem: Draw.io — criação de diagramas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Controle de Versão: </a:t>
            </a:r>
            <a:r>
              <a:rPr lang="pt-BR" sz="3430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Git</a:t>
            </a: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(GitHub) — versionamento do código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Prototipação de interface: </a:t>
            </a:r>
            <a:r>
              <a:rPr lang="pt-BR" sz="3430" dirty="0" err="1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Canva</a:t>
            </a:r>
            <a:r>
              <a:rPr lang="pt-BR" sz="343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 — design das telas 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1595870" y="10749184"/>
            <a:ext cx="12562767" cy="8577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Com o avanço da tecnologia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na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educação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escolas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Ensino fundamental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médio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têm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buscado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cada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vez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mais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ferramentas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digitais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para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tornar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aprendizado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mais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dinâmico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atrativo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 Nesse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contexto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uso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jogos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educacionais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surge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como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uma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alternativa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eficiente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para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engajar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alunos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reforçar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conteúdos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pedagógicos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</a:t>
            </a:r>
          </a:p>
          <a:p>
            <a:pPr algn="just">
              <a:lnSpc>
                <a:spcPts val="4802"/>
              </a:lnSpc>
            </a:pP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No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entanto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gestão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acesso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essas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plataformas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ainda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apresenta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desafios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significativos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Muitas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instituições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enfrentam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dificuldades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no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controle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assinaturas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na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limitação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acessos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Ips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autorizados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Além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disso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ausência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um Sistema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centralizado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dificulta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acompanhamento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do consume dos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jogos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geração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relatórios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tomada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decisões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estratégicas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 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570066" y="21125709"/>
            <a:ext cx="12562767" cy="8577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proposta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consiste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na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criação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um Sistema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capaz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cadastrar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organizar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informações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sobre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jogos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pacotes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intituições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Ensino,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permitindo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que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cada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escola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tenha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controle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sobre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seu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pacote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ativo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seus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limites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acesso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mensais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. O Sistema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também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incluirá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um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processo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login com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validação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de IP,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garantindo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que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apenas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dispositivos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autorizados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possam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acessar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a Plataforma.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Além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disso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a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aplicação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irá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registrar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acessos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realizados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aos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jogos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contabilizando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o </a:t>
            </a:r>
            <a:r>
              <a:rPr lang="en-US" sz="3430" dirty="0" err="1">
                <a:latin typeface="Open Sans 2"/>
                <a:ea typeface="Open Sans 2"/>
                <a:cs typeface="Open Sans 2"/>
                <a:sym typeface="Open Sans 2"/>
              </a:rPr>
              <a:t>consumo</a:t>
            </a:r>
            <a:r>
              <a:rPr lang="en-US" sz="3430" dirty="0">
                <a:latin typeface="Open Sans 2"/>
                <a:ea typeface="Open Sans 2"/>
                <a:cs typeface="Open Sans 2"/>
                <a:sym typeface="Open Sans 2"/>
              </a:rPr>
              <a:t> mensal de </a:t>
            </a:r>
            <a:r>
              <a:rPr lang="pt-BR" sz="3430" dirty="0">
                <a:latin typeface="Open Sans 2"/>
                <a:ea typeface="Open Sans 2"/>
                <a:cs typeface="Open Sans 2"/>
                <a:sym typeface="Open Sans 2"/>
              </a:rPr>
              <a:t>cada escola e bloqueando automaticamente novos acessos quando o limite do pacote for atingido. Esses dados serão utilizados para a geração de relatórios detalhados, possibilitando o acompanhamento do uso e auxiliando na tomada de decisões.</a:t>
            </a:r>
            <a:endParaRPr lang="en-US" sz="3430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136933" y="39681833"/>
            <a:ext cx="28242690" cy="1712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4955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SEMANA DE TECNOLOGIA - 2026</a:t>
            </a:r>
          </a:p>
          <a:p>
            <a:pPr algn="ctr">
              <a:lnSpc>
                <a:spcPts val="6937"/>
              </a:lnSpc>
              <a:spcBef>
                <a:spcPct val="0"/>
              </a:spcBef>
            </a:pPr>
            <a:r>
              <a:rPr lang="en-US" sz="4955" dirty="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Fundação Escola de Comércio Álvares Penteado - FECAP</a:t>
            </a:r>
          </a:p>
        </p:txBody>
      </p:sp>
      <p:sp>
        <p:nvSpPr>
          <p:cNvPr id="59" name="Freeform 13">
            <a:extLst>
              <a:ext uri="{FF2B5EF4-FFF2-40B4-BE49-F238E27FC236}">
                <a16:creationId xmlns:a16="http://schemas.microsoft.com/office/drawing/2014/main" id="{81178D3D-C98C-9D1F-24AA-29D977CB505B}"/>
              </a:ext>
            </a:extLst>
          </p:cNvPr>
          <p:cNvSpPr/>
          <p:nvPr/>
        </p:nvSpPr>
        <p:spPr>
          <a:xfrm>
            <a:off x="20765999" y="24257018"/>
            <a:ext cx="6705185" cy="5233817"/>
          </a:xfrm>
          <a:custGeom>
            <a:avLst/>
            <a:gdLst/>
            <a:ahLst/>
            <a:cxnLst/>
            <a:rect l="l" t="t" r="r" b="b"/>
            <a:pathLst>
              <a:path w="5792928" h="4654791">
                <a:moveTo>
                  <a:pt x="0" y="0"/>
                </a:moveTo>
                <a:lnTo>
                  <a:pt x="5792928" y="0"/>
                </a:lnTo>
                <a:lnTo>
                  <a:pt x="5792928" y="4654791"/>
                </a:lnTo>
                <a:lnTo>
                  <a:pt x="0" y="46547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904" r="-935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61" name="Group 24">
            <a:extLst>
              <a:ext uri="{FF2B5EF4-FFF2-40B4-BE49-F238E27FC236}">
                <a16:creationId xmlns:a16="http://schemas.microsoft.com/office/drawing/2014/main" id="{D8092A12-D2AC-B6F8-4D9D-3E89BFEE2AA0}"/>
              </a:ext>
            </a:extLst>
          </p:cNvPr>
          <p:cNvGrpSpPr/>
          <p:nvPr/>
        </p:nvGrpSpPr>
        <p:grpSpPr>
          <a:xfrm>
            <a:off x="21158989" y="24486020"/>
            <a:ext cx="5920068" cy="2954220"/>
            <a:chOff x="0" y="0"/>
            <a:chExt cx="6766791" cy="3801912"/>
          </a:xfrm>
        </p:grpSpPr>
        <p:pic>
          <p:nvPicPr>
            <p:cNvPr id="62" name="Picture 25">
              <a:extLst>
                <a:ext uri="{FF2B5EF4-FFF2-40B4-BE49-F238E27FC236}">
                  <a16:creationId xmlns:a16="http://schemas.microsoft.com/office/drawing/2014/main" id="{F80571FD-E5E7-AF4D-1D03-F158AB3DC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1466" b="33664"/>
            <a:stretch>
              <a:fillRect/>
            </a:stretch>
          </p:blipFill>
          <p:spPr>
            <a:xfrm>
              <a:off x="0" y="0"/>
              <a:ext cx="6766791" cy="3801912"/>
            </a:xfrm>
            <a:prstGeom prst="rect">
              <a:avLst/>
            </a:prstGeom>
          </p:spPr>
        </p:pic>
      </p:grpSp>
      <p:sp>
        <p:nvSpPr>
          <p:cNvPr id="47" name="TextBox 54">
            <a:extLst>
              <a:ext uri="{FF2B5EF4-FFF2-40B4-BE49-F238E27FC236}">
                <a16:creationId xmlns:a16="http://schemas.microsoft.com/office/drawing/2014/main" id="{55739D15-92D4-6334-8CBE-0F95CF8EDB47}"/>
              </a:ext>
            </a:extLst>
          </p:cNvPr>
          <p:cNvSpPr txBox="1"/>
          <p:nvPr/>
        </p:nvSpPr>
        <p:spPr>
          <a:xfrm>
            <a:off x="15721719" y="10779162"/>
            <a:ext cx="11482836" cy="48840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O Sistema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desenvolvido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apresentou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resultados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positivos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durante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testes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realizados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 A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aplicação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permitiu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o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controle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acessos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validação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 Ips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autorizados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e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gerenciamento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pacotes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educacionais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 forma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eficiente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Além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disso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as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telas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desenvolvidas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possibilitam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uma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navegação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simples e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intuitiva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facilitando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o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acesso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às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funcionalidades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do Sistema e à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visualização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das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informações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pelas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intituições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 Ensino.</a:t>
            </a:r>
          </a:p>
        </p:txBody>
      </p:sp>
      <p:sp>
        <p:nvSpPr>
          <p:cNvPr id="60" name="TextBox 49">
            <a:extLst>
              <a:ext uri="{FF2B5EF4-FFF2-40B4-BE49-F238E27FC236}">
                <a16:creationId xmlns:a16="http://schemas.microsoft.com/office/drawing/2014/main" id="{C5307E39-CFCF-0DAF-9598-61BBEF259CE8}"/>
              </a:ext>
            </a:extLst>
          </p:cNvPr>
          <p:cNvSpPr txBox="1"/>
          <p:nvPr/>
        </p:nvSpPr>
        <p:spPr>
          <a:xfrm>
            <a:off x="22521643" y="16811566"/>
            <a:ext cx="4851011" cy="6193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Tela de Login</a:t>
            </a:r>
          </a:p>
        </p:txBody>
      </p:sp>
      <p:sp>
        <p:nvSpPr>
          <p:cNvPr id="63" name="TextBox 49">
            <a:extLst>
              <a:ext uri="{FF2B5EF4-FFF2-40B4-BE49-F238E27FC236}">
                <a16:creationId xmlns:a16="http://schemas.microsoft.com/office/drawing/2014/main" id="{758904BC-5058-E8A9-B648-4B35F0C51836}"/>
              </a:ext>
            </a:extLst>
          </p:cNvPr>
          <p:cNvSpPr txBox="1"/>
          <p:nvPr/>
        </p:nvSpPr>
        <p:spPr>
          <a:xfrm>
            <a:off x="15666343" y="24306089"/>
            <a:ext cx="4830538" cy="12348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Tela Inicial do Sistema</a:t>
            </a:r>
          </a:p>
        </p:txBody>
      </p:sp>
      <p:sp>
        <p:nvSpPr>
          <p:cNvPr id="64" name="TextBox 54">
            <a:extLst>
              <a:ext uri="{FF2B5EF4-FFF2-40B4-BE49-F238E27FC236}">
                <a16:creationId xmlns:a16="http://schemas.microsoft.com/office/drawing/2014/main" id="{32C611E5-4313-2158-A4AE-53D9AD5C460D}"/>
              </a:ext>
            </a:extLst>
          </p:cNvPr>
          <p:cNvSpPr txBox="1"/>
          <p:nvPr/>
        </p:nvSpPr>
        <p:spPr>
          <a:xfrm>
            <a:off x="22426780" y="17450294"/>
            <a:ext cx="4777775" cy="36453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802"/>
              </a:lnSpc>
            </a:pP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Tela responsável pela autenticação do usuário (escola). O sistema valida as credenciais e verifica se o IP de origem está autorizado para acesso.</a:t>
            </a:r>
            <a:endParaRPr lang="en-US" sz="3200" dirty="0">
              <a:solidFill>
                <a:srgbClr val="000000"/>
              </a:solidFill>
              <a:latin typeface="Open Sans 2" panose="020B0604020202020204" charset="0"/>
              <a:ea typeface="Open Sans 2" panose="020B0604020202020204" charset="0"/>
              <a:cs typeface="Open Sans 2" panose="020B0604020202020204" charset="0"/>
              <a:sym typeface="Open Sans 2"/>
            </a:endParaRP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7EAB10BE-1542-8439-2813-7746BBF5AF3C}"/>
              </a:ext>
            </a:extLst>
          </p:cNvPr>
          <p:cNvSpPr txBox="1"/>
          <p:nvPr/>
        </p:nvSpPr>
        <p:spPr>
          <a:xfrm>
            <a:off x="15601564" y="25606915"/>
            <a:ext cx="4909695" cy="30298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02"/>
              </a:lnSpc>
            </a:pPr>
            <a:r>
              <a:rPr lang="pt-BR" sz="3200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Após o login, a escola visualiza os cursos disponíveis e acessa os jogos educacionais autorizados.</a:t>
            </a:r>
            <a:endParaRPr lang="en-US" sz="3430" dirty="0">
              <a:solidFill>
                <a:srgbClr val="000000"/>
              </a:solidFill>
              <a:latin typeface="Open Sans 2" panose="020B0604020202020204" charset="0"/>
              <a:ea typeface="Open Sans 2" panose="020B0604020202020204" charset="0"/>
              <a:cs typeface="Open Sans 2" panose="020B0604020202020204" charset="0"/>
              <a:sym typeface="Open Sans 2"/>
            </a:endParaRPr>
          </a:p>
        </p:txBody>
      </p:sp>
      <p:sp>
        <p:nvSpPr>
          <p:cNvPr id="67" name="Freeform 13">
            <a:extLst>
              <a:ext uri="{FF2B5EF4-FFF2-40B4-BE49-F238E27FC236}">
                <a16:creationId xmlns:a16="http://schemas.microsoft.com/office/drawing/2014/main" id="{438380FE-C225-D473-1485-19F4DFC401A9}"/>
              </a:ext>
            </a:extLst>
          </p:cNvPr>
          <p:cNvSpPr/>
          <p:nvPr/>
        </p:nvSpPr>
        <p:spPr>
          <a:xfrm>
            <a:off x="15258578" y="16667257"/>
            <a:ext cx="6705185" cy="5233817"/>
          </a:xfrm>
          <a:custGeom>
            <a:avLst/>
            <a:gdLst/>
            <a:ahLst/>
            <a:cxnLst/>
            <a:rect l="l" t="t" r="r" b="b"/>
            <a:pathLst>
              <a:path w="5792928" h="4654791">
                <a:moveTo>
                  <a:pt x="0" y="0"/>
                </a:moveTo>
                <a:lnTo>
                  <a:pt x="5792928" y="0"/>
                </a:lnTo>
                <a:lnTo>
                  <a:pt x="5792928" y="4654791"/>
                </a:lnTo>
                <a:lnTo>
                  <a:pt x="0" y="46547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904" r="-935"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69" name="Imagem 68" descr="Interface gráfica do usuário, Texto, Aplicativ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C52E2C06-AD76-36AB-3799-798CCA3B3EE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1165" y="16811566"/>
            <a:ext cx="5815647" cy="33616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551</Words>
  <Application>Microsoft Office PowerPoint</Application>
  <PresentationFormat>Personalizar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Calibri</vt:lpstr>
      <vt:lpstr>Open Sans 1 Bold</vt:lpstr>
      <vt:lpstr>Open Sans 2 Bold</vt:lpstr>
      <vt:lpstr>Open Sans 1</vt:lpstr>
      <vt:lpstr>Open Sans 2</vt:lpstr>
      <vt:lpstr>Arial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POSTER FECAP</dc:title>
  <dc:creator>Rayna Guimarães</dc:creator>
  <cp:lastModifiedBy>Rayna Guimarães Froes</cp:lastModifiedBy>
  <cp:revision>12</cp:revision>
  <dcterms:created xsi:type="dcterms:W3CDTF">2006-08-16T00:00:00Z</dcterms:created>
  <dcterms:modified xsi:type="dcterms:W3CDTF">2026-05-12T00:23:04Z</dcterms:modified>
  <dc:identifier>DAHA7VomhzE</dc:identifier>
</cp:coreProperties>
</file>